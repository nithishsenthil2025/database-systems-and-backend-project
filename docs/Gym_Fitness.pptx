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“Our first review established the project direction. For Review 2, we focused on turning that direction into an actual system foundation. Today I will show the architecture, data layer, API security, UI flow, and what we completed in Week 2.”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continuity with the approved abstract. The project has not changed direction; the implementation now makes the original proposal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these quickly. These are the review outcomes: the model, PostgreSQL, REST API, JWT, and MongoDB event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React is the presentation layer. Express owns the REST API. JWT and validation sit in front of protected controllers. PostgreSQL stores structured records; MongoDB is reserved for flexible activity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conceptual data view based on the implementation. Mention primary operational records in PostgreSQL and activity logs/events in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endpoint list, then explain the security pipeline. Do not dwell on implementation details; the key is that protected routes validate identity and roles before controller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conceptual UI preview consistent with the prepared prototype. During the live review, open the real React app and use the same navigation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exact speaking sequence. Avoid clicking around randomly. The reviewer should see one coherent path from authentication to data to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boundary of this review. The foundation is ready. Next review should deepen CRUD, trainer/equipment modules, analytics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tool back to the requirements. Do not claim a technology was selected just because it is popular; explain the role it plays in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“That is our Review 2 milestone. We now have the base required to continue into deeper workflows, analytics and deployment. Thank you.”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7620">
            <a:solidFill>
              <a:srgbClr val="252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6547104"/>
            <a:ext cx="4937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25CS1302E  •  TEAM 07  •  SECTION 08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54864" cy="5413248"/>
          </a:xfrm>
          <a:prstGeom prst="rect">
            <a:avLst/>
          </a:prstGeom>
          <a:solidFill>
            <a:srgbClr val="7DE3C2"/>
          </a:solidFill>
          <a:ln w="12700">
            <a:solidFill>
              <a:srgbClr val="7DE3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5669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SYSTEMS ENGINEERING  /  REVIEW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1078992"/>
            <a:ext cx="6858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 &amp; Fitness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Management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987552" y="340156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approved abstract to a database-backed,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secured full-stack foundation.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7552" y="4343400"/>
            <a:ext cx="6035040" cy="0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87552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Nithish S  •  2520030346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Sai Sathwik  •  2520030328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841248"/>
            <a:ext cx="3154680" cy="5257800"/>
          </a:xfrm>
          <a:prstGeom prst="roundRect">
            <a:avLst>
              <a:gd name="adj" fmla="val 7246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7072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77072" y="15361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577072" y="2697480"/>
            <a:ext cx="2468880" cy="0"/>
          </a:xfrm>
          <a:prstGeom prst="line">
            <a:avLst/>
          </a:prstGeom>
          <a:noFill/>
          <a:ln w="1016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8577072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10928" y="2514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77072" y="3337560"/>
            <a:ext cx="2468880" cy="0"/>
          </a:xfrm>
          <a:prstGeom prst="line">
            <a:avLst/>
          </a:prstGeom>
          <a:noFill/>
          <a:ln w="1016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577072" y="31546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10928" y="3154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2" y="3977640"/>
            <a:ext cx="2468880" cy="0"/>
          </a:xfrm>
          <a:prstGeom prst="line">
            <a:avLst/>
          </a:prstGeom>
          <a:noFill/>
          <a:ln w="1016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577072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10928" y="37947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77072" y="4617720"/>
            <a:ext cx="2468880" cy="0"/>
          </a:xfrm>
          <a:prstGeom prst="line">
            <a:avLst/>
          </a:prstGeom>
          <a:noFill/>
          <a:ln w="1016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577072" y="44348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10928" y="4434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77072" y="5257800"/>
            <a:ext cx="2468880" cy="0"/>
          </a:xfrm>
          <a:prstGeom prst="line">
            <a:avLst/>
          </a:prstGeom>
          <a:noFill/>
          <a:ln w="1016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8577072" y="50749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10928" y="5074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PROJECT THROUGHLINE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 is now a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submitted abstract defines centralized gym operations, a relational core, REST APIs and secure access.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3054096" cy="2971800"/>
          </a:xfrm>
          <a:prstGeom prst="roundRect">
            <a:avLst>
              <a:gd name="adj" fmla="val 6769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596896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E3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60604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3035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52958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 operations can be split across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records and disconnected processes.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460857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 •  attendance  •  workouts  •  payments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48456" y="3611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096512" y="2331720"/>
            <a:ext cx="3054096" cy="2971800"/>
          </a:xfrm>
          <a:prstGeom prst="roundRect">
            <a:avLst>
              <a:gd name="adj" fmla="val 6769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2596896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B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60604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34256" y="3035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34256" y="352958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web platform centralizes the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club-management workflow.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34256" y="460857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interface  •  shared data  •  secure 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48456" y="3611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534656" y="2331720"/>
            <a:ext cx="3054096" cy="2971800"/>
          </a:xfrm>
          <a:prstGeom prst="roundRect">
            <a:avLst>
              <a:gd name="adj" fmla="val 6769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596896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B69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260604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3035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0" y="352958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built the foundation required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demonstrable prototype.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460857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 •  API  •  auth  •  UI  •  events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WEEK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concrete deliverables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 was intentionally narrow: establish the core architecture before advanced features.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2688336"/>
            <a:ext cx="10607040" cy="0"/>
          </a:xfrm>
          <a:prstGeom prst="line">
            <a:avLst/>
          </a:prstGeom>
          <a:noFill/>
          <a:ln w="889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49808" y="22402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E3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94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2249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84448" y="2240280"/>
            <a:ext cx="7479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members, memberships, attendance, workouts, payments, equipment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3401568"/>
            <a:ext cx="10607040" cy="0"/>
          </a:xfrm>
          <a:prstGeom prst="line">
            <a:avLst/>
          </a:prstGeom>
          <a:noFill/>
          <a:ln w="889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49808" y="2953512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B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6265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29626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2953512"/>
            <a:ext cx="7479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schema, enums, constraints and seeded demo records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4114800"/>
            <a:ext cx="10607040" cy="0"/>
          </a:xfrm>
          <a:prstGeom prst="line">
            <a:avLst/>
          </a:prstGeom>
          <a:noFill/>
          <a:ln w="889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49808" y="3666744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B69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7588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3675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84448" y="3666744"/>
            <a:ext cx="7479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routes, controllers, validation and centralized errors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4828032"/>
            <a:ext cx="10607040" cy="0"/>
          </a:xfrm>
          <a:prstGeom prst="line">
            <a:avLst/>
          </a:prstGeom>
          <a:noFill/>
          <a:ln w="889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49808" y="4379976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FF7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4389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SECURITY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84448" y="4379976"/>
            <a:ext cx="7479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verification, token issuance and protected routes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" y="5541264"/>
            <a:ext cx="10607040" cy="0"/>
          </a:xfrm>
          <a:prstGeom prst="line">
            <a:avLst/>
          </a:prstGeom>
          <a:noFill/>
          <a:ln w="889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49808" y="509320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FFB8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1023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81328" y="5102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84448" y="5093208"/>
            <a:ext cx="7479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activity-event model for evolving payloads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request path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separates presentation, API logic, durable relational data, and flexible activity events.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2761488"/>
            <a:ext cx="2212848" cy="1133856"/>
          </a:xfrm>
          <a:prstGeom prst="roundRect">
            <a:avLst>
              <a:gd name="adj" fmla="val 17742"/>
            </a:avLst>
          </a:prstGeom>
          <a:solidFill>
            <a:srgbClr val="12161B"/>
          </a:solidFill>
          <a:ln w="11430">
            <a:solidFill>
              <a:srgbClr val="262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9992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0976" y="338328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interface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11296" y="2761488"/>
            <a:ext cx="2212848" cy="1133856"/>
          </a:xfrm>
          <a:prstGeom prst="roundRect">
            <a:avLst>
              <a:gd name="adj" fmla="val 17742"/>
            </a:avLst>
          </a:prstGeom>
          <a:solidFill>
            <a:srgbClr val="12161B"/>
          </a:solidFill>
          <a:ln w="11430">
            <a:solidFill>
              <a:srgbClr val="262C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2464" y="29992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94176" y="338328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+ middleware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2057400" cy="960120"/>
          </a:xfrm>
          <a:prstGeom prst="roundRect">
            <a:avLst>
              <a:gd name="adj" fmla="val 20952"/>
            </a:avLst>
          </a:prstGeom>
          <a:solidFill>
            <a:srgbClr val="12161B"/>
          </a:solidFill>
          <a:ln w="11430">
            <a:solidFill>
              <a:srgbClr val="262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2677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3952" y="2578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+ role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3767328"/>
            <a:ext cx="2057400" cy="960120"/>
          </a:xfrm>
          <a:prstGeom prst="roundRect">
            <a:avLst>
              <a:gd name="adj" fmla="val 20952"/>
            </a:avLst>
          </a:prstGeom>
          <a:solidFill>
            <a:srgbClr val="12161B"/>
          </a:solidFill>
          <a:ln w="11430">
            <a:solidFill>
              <a:srgbClr val="262C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40233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4334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guardrails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34272" y="2011680"/>
            <a:ext cx="2331720" cy="960120"/>
          </a:xfrm>
          <a:prstGeom prst="roundRect">
            <a:avLst>
              <a:gd name="adj" fmla="val 20952"/>
            </a:avLst>
          </a:prstGeom>
          <a:solidFill>
            <a:srgbClr val="12161B"/>
          </a:solidFill>
          <a:ln w="11430">
            <a:solidFill>
              <a:srgbClr val="262C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226771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53728" y="25786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operational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34272" y="3767328"/>
            <a:ext cx="2331720" cy="960120"/>
          </a:xfrm>
          <a:prstGeom prst="roundRect">
            <a:avLst>
              <a:gd name="adj" fmla="val 20952"/>
            </a:avLst>
          </a:prstGeom>
          <a:solidFill>
            <a:srgbClr val="12161B"/>
          </a:solidFill>
          <a:ln w="11430">
            <a:solidFill>
              <a:srgbClr val="262C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4023360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53728" y="43342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activity events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62656" y="3328416"/>
            <a:ext cx="548640" cy="0"/>
          </a:xfrm>
          <a:prstGeom prst="line">
            <a:avLst/>
          </a:prstGeom>
          <a:noFill/>
          <a:ln w="20320">
            <a:solidFill>
              <a:srgbClr val="7DE3C2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3127248" y="311810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24144" y="3328416"/>
            <a:ext cx="530352" cy="-786384"/>
          </a:xfrm>
          <a:prstGeom prst="line">
            <a:avLst/>
          </a:prstGeom>
          <a:noFill/>
          <a:ln w="17780">
            <a:solidFill>
              <a:srgbClr val="7DB7F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724144" y="3328416"/>
            <a:ext cx="530352" cy="868680"/>
          </a:xfrm>
          <a:prstGeom prst="line">
            <a:avLst/>
          </a:prstGeom>
          <a:noFill/>
          <a:ln w="17780">
            <a:solidFill>
              <a:srgbClr val="7DB7F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321040" y="2487168"/>
            <a:ext cx="713232" cy="0"/>
          </a:xfrm>
          <a:prstGeom prst="line">
            <a:avLst/>
          </a:prstGeom>
          <a:noFill/>
          <a:ln w="17780">
            <a:solidFill>
              <a:srgbClr val="7DE3C2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321040" y="4242816"/>
            <a:ext cx="713232" cy="0"/>
          </a:xfrm>
          <a:prstGeom prst="line">
            <a:avLst/>
          </a:prstGeom>
          <a:noFill/>
          <a:ln w="17780">
            <a:solidFill>
              <a:srgbClr val="FFB86B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712464" y="5138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request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" y="54406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E3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44982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9312" y="5440680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B7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544982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25712" y="544068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B69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98864" y="544982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DATA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core, flexible edge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holds the authoritative gym records; MongoDB handles activity payloads that may evolve independently.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2487168"/>
            <a:ext cx="123444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06040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2487168"/>
            <a:ext cx="132588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26060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2487168"/>
            <a:ext cx="155448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6060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2487168"/>
            <a:ext cx="150876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60604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59952" y="2487168"/>
            <a:ext cx="1353312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260604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3712" y="4096512"/>
            <a:ext cx="141732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421538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WORKOUT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19672" y="4096512"/>
            <a:ext cx="132588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421538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39912" y="4096512"/>
            <a:ext cx="1508760" cy="530352"/>
          </a:xfrm>
          <a:prstGeom prst="roundRect">
            <a:avLst>
              <a:gd name="adj" fmla="val 31034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421538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752344"/>
            <a:ext cx="548640" cy="0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023360" y="2752344"/>
            <a:ext cx="594360" cy="0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172200" y="2752344"/>
            <a:ext cx="548640" cy="0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229600" y="2752344"/>
            <a:ext cx="530352" cy="0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394960" y="3017520"/>
            <a:ext cx="-137160" cy="1078992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452360" y="3017520"/>
            <a:ext cx="-274320" cy="1078992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229600" y="3017520"/>
            <a:ext cx="960120" cy="1078992"/>
          </a:xfrm>
          <a:prstGeom prst="line">
            <a:avLst/>
          </a:prstGeom>
          <a:noFill/>
          <a:ln w="1270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04672" y="5084064"/>
            <a:ext cx="4983480" cy="685800"/>
          </a:xfrm>
          <a:prstGeom prst="roundRect">
            <a:avLst>
              <a:gd name="adj" fmla="val 24000"/>
            </a:avLst>
          </a:prstGeom>
          <a:solidFill>
            <a:srgbClr val="171C22"/>
          </a:solidFill>
          <a:ln w="12700">
            <a:solidFill>
              <a:srgbClr val="171C2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5276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52486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 •  constraints  •  transactions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5084064"/>
            <a:ext cx="5193792" cy="685800"/>
          </a:xfrm>
          <a:prstGeom prst="roundRect">
            <a:avLst>
              <a:gd name="adj" fmla="val 24000"/>
            </a:avLst>
          </a:prstGeom>
          <a:solidFill>
            <a:srgbClr val="171C22"/>
          </a:solidFill>
          <a:ln w="12700">
            <a:solidFill>
              <a:srgbClr val="171C2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527608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96912" y="5248656"/>
            <a:ext cx="3813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events  •  flexible payloads  •  evolving metadata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+ security foundation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 pipeline is protected before business logic runs.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2231136"/>
            <a:ext cx="4809744" cy="3639312"/>
          </a:xfrm>
          <a:prstGeom prst="roundRect">
            <a:avLst>
              <a:gd name="adj" fmla="val 5528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SURFACE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871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1912" y="28712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28712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81912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3712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81912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4133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81912" y="4133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/members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4133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+ ADMIN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45537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81912" y="4553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/attendance/me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4553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9743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81912" y="4974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/workouts/me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4974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5394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81912" y="5394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/payments/me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5394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33872" y="2231136"/>
            <a:ext cx="5623560" cy="1243584"/>
          </a:xfrm>
          <a:prstGeom prst="roundRect">
            <a:avLst>
              <a:gd name="adj" fmla="val 16176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REQUEST FLOW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08192" y="2999232"/>
            <a:ext cx="201168" cy="201168"/>
          </a:xfrm>
          <a:prstGeom prst="ellipse">
            <a:avLst/>
          </a:prstGeom>
          <a:solidFill>
            <a:srgbClr val="FF7070"/>
          </a:solidFill>
          <a:ln w="12700">
            <a:solidFill>
              <a:srgbClr val="FF707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08192" y="321868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095744" y="2999232"/>
            <a:ext cx="201168" cy="201168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95744" y="321868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 verify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083296" y="2999232"/>
            <a:ext cx="201168" cy="201168"/>
          </a:xfrm>
          <a:prstGeom prst="ellipse">
            <a:avLst/>
          </a:prstGeom>
          <a:solidFill>
            <a:srgbClr val="7DE3C2"/>
          </a:solidFill>
          <a:ln w="12700">
            <a:solidFill>
              <a:srgbClr val="7DE3C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57032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83296" y="321868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issue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9070848" y="2999232"/>
            <a:ext cx="201168" cy="201168"/>
          </a:xfrm>
          <a:prstGeom prst="ellipse">
            <a:avLst/>
          </a:prstGeom>
          <a:solidFill>
            <a:srgbClr val="7DB7FF"/>
          </a:solidFill>
          <a:ln w="12700">
            <a:solidFill>
              <a:srgbClr val="7DB7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44584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70848" y="321868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 token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10058400" y="2999232"/>
            <a:ext cx="201168" cy="201168"/>
          </a:xfrm>
          <a:prstGeom prst="ellipse">
            <a:avLst/>
          </a:prstGeom>
          <a:solidFill>
            <a:srgbClr val="B69CFF"/>
          </a:solidFill>
          <a:ln w="12700">
            <a:solidFill>
              <a:srgbClr val="B69C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32136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58400" y="321868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833872" y="3730752"/>
            <a:ext cx="5623560" cy="2139696"/>
          </a:xfrm>
          <a:prstGeom prst="roundRect">
            <a:avLst>
              <a:gd name="adj" fmla="val 9402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986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GUARDRAILS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44768" y="4498848"/>
            <a:ext cx="109728" cy="109728"/>
          </a:xfrm>
          <a:prstGeom prst="ellipse">
            <a:avLst/>
          </a:prstGeom>
          <a:solidFill>
            <a:srgbClr val="B69CFF"/>
          </a:solidFill>
          <a:ln w="12700">
            <a:solidFill>
              <a:srgbClr val="B69C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43982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Zod request validation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44768" y="4828032"/>
            <a:ext cx="109728" cy="109728"/>
          </a:xfrm>
          <a:prstGeom prst="ellipse">
            <a:avLst/>
          </a:prstGeom>
          <a:solidFill>
            <a:srgbClr val="7DB7FF"/>
          </a:solidFill>
          <a:ln w="12700">
            <a:solidFill>
              <a:srgbClr val="7DB7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error handler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4768" y="5157216"/>
            <a:ext cx="109728" cy="109728"/>
          </a:xfrm>
          <a:prstGeom prst="ellipse">
            <a:avLst/>
          </a:prstGeom>
          <a:solidFill>
            <a:srgbClr val="7DE3C2"/>
          </a:solidFill>
          <a:ln w="12700">
            <a:solidFill>
              <a:srgbClr val="7DE3C2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5056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middleware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44768" y="5486400"/>
            <a:ext cx="109728" cy="109728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53858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hashes only — no plaintext storage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dashboard for the demo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React layer makes the database and API work visible to the reviewer.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10881360" cy="3611880"/>
          </a:xfrm>
          <a:prstGeom prst="roundRect">
            <a:avLst>
              <a:gd name="adj" fmla="val 5570"/>
            </a:avLst>
          </a:prstGeom>
          <a:solidFill>
            <a:srgbClr val="0E1115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240280"/>
            <a:ext cx="10881360" cy="384048"/>
          </a:xfrm>
          <a:prstGeom prst="roundRect">
            <a:avLst>
              <a:gd name="adj" fmla="val 52381"/>
            </a:avLst>
          </a:prstGeom>
          <a:solidFill>
            <a:srgbClr val="161B21"/>
          </a:solidFill>
          <a:ln w="10160">
            <a:solidFill>
              <a:srgbClr val="161B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368296"/>
            <a:ext cx="82296" cy="82296"/>
          </a:xfrm>
          <a:prstGeom prst="ellipse">
            <a:avLst/>
          </a:prstGeom>
          <a:solidFill>
            <a:srgbClr val="FF7070"/>
          </a:solidFill>
          <a:ln w="12700">
            <a:solidFill>
              <a:srgbClr val="FF707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68296"/>
            <a:ext cx="82296" cy="82296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368296"/>
            <a:ext cx="82296" cy="82296"/>
          </a:xfrm>
          <a:prstGeom prst="ellipse">
            <a:avLst/>
          </a:prstGeom>
          <a:solidFill>
            <a:srgbClr val="7DE3C2"/>
          </a:solidFill>
          <a:ln w="12700">
            <a:solidFill>
              <a:srgbClr val="7DE3C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3042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gym.local  /  overview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" y="2788920"/>
            <a:ext cx="1481328" cy="2761488"/>
          </a:xfrm>
          <a:prstGeom prst="roundRect">
            <a:avLst>
              <a:gd name="adj" fmla="val 9877"/>
            </a:avLst>
          </a:prstGeom>
          <a:solidFill>
            <a:srgbClr val="11161C"/>
          </a:solidFill>
          <a:ln w="12700">
            <a:solidFill>
              <a:srgbClr val="11161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2666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FITNESS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776472"/>
            <a:ext cx="1216152" cy="256032"/>
          </a:xfrm>
          <a:prstGeom prst="roundRect">
            <a:avLst>
              <a:gd name="adj" fmla="val 46429"/>
            </a:avLst>
          </a:prstGeom>
          <a:solidFill>
            <a:srgbClr val="1C252C"/>
          </a:solidFill>
          <a:ln w="12700">
            <a:solidFill>
              <a:srgbClr val="1C252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82219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78408" y="4169664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78408" y="4517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78408" y="486460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Workouts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78408" y="52120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542032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542032" y="32644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control surface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42032" y="3703320"/>
            <a:ext cx="1874520" cy="841248"/>
          </a:xfrm>
          <a:prstGeom prst="roundRect">
            <a:avLst>
              <a:gd name="adj" fmla="val 1739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3858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88336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690872" y="3703320"/>
            <a:ext cx="1874520" cy="841248"/>
          </a:xfrm>
          <a:prstGeom prst="roundRect">
            <a:avLst>
              <a:gd name="adj" fmla="val 1739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3858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PLANS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37176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39712" y="3703320"/>
            <a:ext cx="1874520" cy="841248"/>
          </a:xfrm>
          <a:prstGeom prst="roundRect">
            <a:avLst>
              <a:gd name="adj" fmla="val 1739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3858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86016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988552" y="3703320"/>
            <a:ext cx="1874520" cy="841248"/>
          </a:xfrm>
          <a:prstGeom prst="roundRect">
            <a:avLst>
              <a:gd name="adj" fmla="val 1739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3858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34856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542032" y="4764024"/>
            <a:ext cx="4078224" cy="475488"/>
          </a:xfrm>
          <a:prstGeom prst="roundRect">
            <a:avLst>
              <a:gd name="adj" fmla="val 26923"/>
            </a:avLst>
          </a:prstGeom>
          <a:solidFill>
            <a:srgbClr val="171C22"/>
          </a:solidFill>
          <a:ln w="12700">
            <a:solidFill>
              <a:srgbClr val="171C2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49011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 /api/dashboard  →  PostgreSQL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4764024"/>
            <a:ext cx="4416552" cy="475488"/>
          </a:xfrm>
          <a:prstGeom prst="roundRect">
            <a:avLst>
              <a:gd name="adj" fmla="val 26923"/>
            </a:avLst>
          </a:prstGeom>
          <a:solidFill>
            <a:srgbClr val="171C22"/>
          </a:solidFill>
          <a:ln w="12700">
            <a:solidFill>
              <a:srgbClr val="171C2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1736" y="490118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demo data  •  protected route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90-second proof path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demo linear: authenticate → load data → show workflows → explain the architecture.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874520" cy="2359152"/>
          </a:xfrm>
          <a:prstGeom prst="roundRect">
            <a:avLst>
              <a:gd name="adj" fmla="val 10732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6090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FF7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670048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31821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sign-in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JWT issued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87752" y="34930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926080" y="2423160"/>
            <a:ext cx="1874520" cy="2359152"/>
          </a:xfrm>
          <a:prstGeom prst="roundRect">
            <a:avLst>
              <a:gd name="adj" fmla="val 10732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66090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E3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2670048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31821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61188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API-backed KPIs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34930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166360" y="2423160"/>
            <a:ext cx="1874520" cy="2359152"/>
          </a:xfrm>
          <a:prstGeom prst="roundRect">
            <a:avLst>
              <a:gd name="adj" fmla="val 10732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266090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B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2670048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9240" y="31821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61188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list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PostgreSQL records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68312" y="34930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406640" y="2423160"/>
            <a:ext cx="1874520" cy="2359152"/>
          </a:xfrm>
          <a:prstGeom prst="roundRect">
            <a:avLst>
              <a:gd name="adj" fmla="val 10732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266090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FFB8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2670048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31821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361188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/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workouts / payments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08592" y="34930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9646920" y="2423160"/>
            <a:ext cx="1874520" cy="2359152"/>
          </a:xfrm>
          <a:prstGeom prst="roundRect">
            <a:avLst>
              <a:gd name="adj" fmla="val 10732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66090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B69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2952" y="2670048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29800" y="31821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29800" y="361188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events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5230368"/>
            <a:ext cx="10927080" cy="420624"/>
          </a:xfrm>
          <a:prstGeom prst="roundRect">
            <a:avLst>
              <a:gd name="adj" fmla="val 34783"/>
            </a:avLst>
          </a:prstGeom>
          <a:solidFill>
            <a:srgbClr val="171C22"/>
          </a:solidFill>
          <a:ln w="12700">
            <a:solidFill>
              <a:srgbClr val="171C2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340096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to show live: protected login • seeded data • route response • relational records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REVIEW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 now — and what comes next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2 is the foundation milestone, not the final product.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2304288"/>
            <a:ext cx="4983480" cy="512064"/>
          </a:xfrm>
          <a:prstGeom prst="roundRect">
            <a:avLst>
              <a:gd name="adj" fmla="val 2857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323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78608" y="23957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243230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+ seed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13232" y="2971800"/>
            <a:ext cx="4983480" cy="512064"/>
          </a:xfrm>
          <a:prstGeom prst="roundRect">
            <a:avLst>
              <a:gd name="adj" fmla="val 2857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998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78608" y="306324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09981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+ JWT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13232" y="3639312"/>
            <a:ext cx="4983480" cy="512064"/>
          </a:xfrm>
          <a:prstGeom prst="roundRect">
            <a:avLst>
              <a:gd name="adj" fmla="val 2857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673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3730752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376732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views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13232" y="4306824"/>
            <a:ext cx="4983480" cy="512064"/>
          </a:xfrm>
          <a:prstGeom prst="roundRect">
            <a:avLst>
              <a:gd name="adj" fmla="val 28571"/>
            </a:avLst>
          </a:prstGeom>
          <a:solidFill>
            <a:srgbClr val="12161B"/>
          </a:solidFill>
          <a:ln w="8890">
            <a:solidFill>
              <a:srgbClr val="262C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348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78608" y="439826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44348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model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08192" y="2304288"/>
            <a:ext cx="5321808" cy="3246120"/>
          </a:xfrm>
          <a:prstGeom prst="roundRect">
            <a:avLst>
              <a:gd name="adj" fmla="val 619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578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3218688"/>
            <a:ext cx="91440" cy="91440"/>
          </a:xfrm>
          <a:prstGeom prst="ellipse">
            <a:avLst/>
          </a:prstGeom>
          <a:solidFill>
            <a:srgbClr val="7DE3C2"/>
          </a:solidFill>
          <a:ln w="12700">
            <a:solidFill>
              <a:srgbClr val="7DE3C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090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workflows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19088" y="3712464"/>
            <a:ext cx="91440" cy="91440"/>
          </a:xfrm>
          <a:prstGeom prst="ellipse">
            <a:avLst/>
          </a:prstGeom>
          <a:solidFill>
            <a:srgbClr val="7DB7FF"/>
          </a:solidFill>
          <a:ln w="12700">
            <a:solidFill>
              <a:srgbClr val="7DB7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584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+ equipment management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19088" y="4206240"/>
            <a:ext cx="91440" cy="91440"/>
          </a:xfrm>
          <a:prstGeom prst="ellipse">
            <a:avLst/>
          </a:prstGeom>
          <a:solidFill>
            <a:srgbClr val="B69CFF"/>
          </a:solidFill>
          <a:ln w="12700">
            <a:solidFill>
              <a:srgbClr val="B69C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0782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/ reporting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19088" y="4700016"/>
            <a:ext cx="91440" cy="91440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572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hardening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82512" y="5010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stays the same; depth increases next.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DESIGN RATIONALE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technology has one job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chosen stack maps directly to the system requirements in the abstract.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6656" y="2395728"/>
            <a:ext cx="1901952" cy="2395728"/>
          </a:xfrm>
          <a:prstGeom prst="roundRect">
            <a:avLst>
              <a:gd name="adj" fmla="val 1057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743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88136" y="3246120"/>
            <a:ext cx="1069848" cy="0"/>
          </a:xfrm>
          <a:prstGeom prst="line">
            <a:avLst/>
          </a:prstGeom>
          <a:noFill/>
          <a:ln w="15240">
            <a:solidFill>
              <a:srgbClr val="7DE3C2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841248" y="35204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3968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Component-driven web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16936" y="2395728"/>
            <a:ext cx="1901952" cy="2395728"/>
          </a:xfrm>
          <a:prstGeom prst="roundRect">
            <a:avLst>
              <a:gd name="adj" fmla="val 1057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743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28416" y="3246120"/>
            <a:ext cx="1069848" cy="0"/>
          </a:xfrm>
          <a:prstGeom prst="line">
            <a:avLst/>
          </a:prstGeom>
          <a:noFill/>
          <a:ln w="15240">
            <a:solidFill>
              <a:srgbClr val="7DB7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081528" y="35204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3968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routes + middleware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57216" y="2395728"/>
            <a:ext cx="1901952" cy="2395728"/>
          </a:xfrm>
          <a:prstGeom prst="roundRect">
            <a:avLst>
              <a:gd name="adj" fmla="val 1057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2743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68696" y="3246120"/>
            <a:ext cx="1069848" cy="0"/>
          </a:xfrm>
          <a:prstGeom prst="line">
            <a:avLst/>
          </a:prstGeom>
          <a:noFill/>
          <a:ln w="15240">
            <a:solidFill>
              <a:srgbClr val="B69CF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5321808" y="35204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76672" y="3968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+ constraints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97496" y="2395728"/>
            <a:ext cx="1901952" cy="2395728"/>
          </a:xfrm>
          <a:prstGeom prst="roundRect">
            <a:avLst>
              <a:gd name="adj" fmla="val 1057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2743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08976" y="3246120"/>
            <a:ext cx="1069848" cy="0"/>
          </a:xfrm>
          <a:prstGeom prst="line">
            <a:avLst/>
          </a:prstGeom>
          <a:noFill/>
          <a:ln w="15240">
            <a:solidFill>
              <a:srgbClr val="FFB86B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7562088" y="35204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16952" y="3968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event payloads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37776" y="2395728"/>
            <a:ext cx="1901952" cy="2395728"/>
          </a:xfrm>
          <a:prstGeom prst="roundRect">
            <a:avLst>
              <a:gd name="adj" fmla="val 1057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2743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49256" y="3246120"/>
            <a:ext cx="1069848" cy="0"/>
          </a:xfrm>
          <a:prstGeom prst="line">
            <a:avLst/>
          </a:prstGeom>
          <a:noFill/>
          <a:ln w="15240">
            <a:solidFill>
              <a:srgbClr val="FF707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802368" y="35204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57232" y="3968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access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" y="5230368"/>
            <a:ext cx="10972800" cy="475488"/>
          </a:xfrm>
          <a:prstGeom prst="roundRect">
            <a:avLst>
              <a:gd name="adj" fmla="val 30769"/>
            </a:avLst>
          </a:prstGeom>
          <a:solidFill>
            <a:srgbClr val="171C22"/>
          </a:solidFill>
          <a:ln w="12700">
            <a:solidFill>
              <a:srgbClr val="171C2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358384"/>
            <a:ext cx="10497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→ a modular foundation that can grow without changing the project direction.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02  /  WEEK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6629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abstract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working foundation.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94944" y="2578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established the architecture, data layer,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API and core UI needed for the next phase.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92440" y="1078992"/>
            <a:ext cx="3383280" cy="4480560"/>
          </a:xfrm>
          <a:prstGeom prst="roundRect">
            <a:avLst>
              <a:gd name="adj" fmla="val 6757"/>
            </a:avLst>
          </a:prstGeom>
          <a:solidFill>
            <a:srgbClr val="12161B"/>
          </a:solidFill>
          <a:ln w="10160">
            <a:solidFill>
              <a:srgbClr val="262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7D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19751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Nithish 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Sai Sathwik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41080" y="3090672"/>
            <a:ext cx="2286000" cy="0"/>
          </a:xfrm>
          <a:prstGeom prst="line">
            <a:avLst/>
          </a:prstGeom>
          <a:noFill/>
          <a:ln w="10160">
            <a:solidFill>
              <a:srgbClr val="262C33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32520" y="3355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2520030346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DA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2520030328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43342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08  •  Y25 / 2026–2027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0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TRIMESTER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15400" y="4983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1430">
            <a:solidFill>
              <a:srgbClr val="7DE3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88552" y="499262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E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51023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KLH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&amp; Fitness Club Management System | Review 2</dc:title>
  <dc:subject>Gym &amp; Fitness Club Management System — Review 2</dc:subject>
  <dc:creator>Nithish S</dc:creator>
  <cp:lastModifiedBy>Nithish S</cp:lastModifiedBy>
  <cp:revision>1</cp:revision>
  <dcterms:created xsi:type="dcterms:W3CDTF">2026-09-01T02:51:36Z</dcterms:created>
  <dcterms:modified xsi:type="dcterms:W3CDTF">2026-09-01T02:51:36Z</dcterms:modified>
</cp:coreProperties>
</file>